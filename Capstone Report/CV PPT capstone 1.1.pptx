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2" r:id="rId5"/>
    <p:sldId id="283" r:id="rId6"/>
    <p:sldId id="263" r:id="rId7"/>
    <p:sldId id="262" r:id="rId8"/>
    <p:sldId id="278" r:id="rId9"/>
    <p:sldId id="279" r:id="rId10"/>
    <p:sldId id="280" r:id="rId11"/>
    <p:sldId id="281" r:id="rId12"/>
    <p:sldId id="264" r:id="rId13"/>
    <p:sldId id="284" r:id="rId14"/>
    <p:sldId id="266" r:id="rId15"/>
    <p:sldId id="267" r:id="rId16"/>
    <p:sldId id="268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BCED5-51DC-4D20-87A1-59A1833F3FD4}" v="44" dt="2026-02-13T08:39:00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23" autoAdjust="0"/>
  </p:normalViewPr>
  <p:slideViewPr>
    <p:cSldViewPr showGuides="1"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9CC0F-D608-4E8F-9A23-2C02DC24875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BDAA4-1137-4155-9A15-30A661E2E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5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27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7703-8371-A1B8-97DA-89343EC5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C18CE-D285-1D07-6B33-0CC3E98A1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A4514-6563-1A35-1B69-8A7266293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BC034-D833-9A0D-6F41-0E96DA204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524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4079-09A4-2ED1-E779-B0E6F1FA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49D42-279F-5ECC-3FED-FBEF49635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B5FC8-1CA4-7D09-7A10-B74C7B284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136CD-25AC-D753-CBE2-AD13D6DC1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88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06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53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A7FB-BA76-C89D-AA5A-EDCAD463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14BFD-EB8E-FE6E-BE4D-2434F9D2A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FD63D-49BA-2303-9FD2-BF913506D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3CAA5-BCA9-71DE-B26B-C4C71347D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487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0930-096D-DD4A-1655-4D1172B7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CF64-7850-99CE-5847-1199D4FF6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0920A-4014-EA3D-3163-B6D1470F5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ACD7-A0F5-FFD1-5E17-DDE676DB5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0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DBAA-ED0E-4850-3F3D-D0501815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1684C-FC9B-CDE2-E483-E02FC4E0A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81168-33C6-6BB2-071E-CFDE8D155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D7BE2-39D4-51F8-54FB-4BAC94DA9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142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9672-49C0-D903-767A-684B09C0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70E51-1DF2-4B99-6292-CF30FB09C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256B-E86E-EF64-E577-E5B7FEB5F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8A7BC-1F63-54B3-0B5A-A9385C96A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92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0FA2-6A60-8880-3BD5-E9F9332B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93013-F300-9720-9C9A-57B1E3BE9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70DCF-B77C-74E6-BC0C-5C6BBCB41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EDA6-3CF7-10E1-D3CC-90CD386C2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33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BDAA4-1137-4155-9A15-30A661E2E05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17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600" y="4805091"/>
            <a:ext cx="4246878" cy="256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000" b="1" u="sng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000" b="1" u="sng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00"/>
              </a:spcBef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Gopika(192324032)</a:t>
            </a:r>
          </a:p>
          <a:p>
            <a:pPr algn="ctr">
              <a:spcBef>
                <a:spcPts val="100"/>
              </a:spcBef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Sai </a:t>
            </a:r>
            <a:r>
              <a:rPr lang="en-US" sz="20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Bhavyatha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(192424333)</a:t>
            </a:r>
          </a:p>
          <a:p>
            <a:pPr algn="ctr">
              <a:spcBef>
                <a:spcPts val="100"/>
              </a:spcBef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Hasini(192424313)</a:t>
            </a:r>
          </a:p>
          <a:p>
            <a:pPr algn="ctr">
              <a:spcBef>
                <a:spcPts val="100"/>
              </a:spcBef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Kamali(192524423)</a:t>
            </a:r>
          </a:p>
          <a:p>
            <a:pPr algn="ctr">
              <a:spcBef>
                <a:spcPts val="100"/>
              </a:spcBef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Dhanasri(192524343)</a:t>
            </a:r>
          </a:p>
          <a:p>
            <a:pPr algn="ctr">
              <a:spcBef>
                <a:spcPts val="100"/>
              </a:spcBef>
            </a:pPr>
            <a:endParaRPr lang="en-US" sz="20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0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4325B2-7B79-E39D-00A1-C0E1EB0BF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23"/>
          <a:stretch>
            <a:fillRect/>
          </a:stretch>
        </p:blipFill>
        <p:spPr>
          <a:xfrm>
            <a:off x="1492468" y="294639"/>
            <a:ext cx="9021763" cy="1073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E305A6-4A23-C38E-CE09-41781991F22F}"/>
              </a:ext>
            </a:extLst>
          </p:cNvPr>
          <p:cNvSpPr txBox="1"/>
          <p:nvPr/>
        </p:nvSpPr>
        <p:spPr>
          <a:xfrm>
            <a:off x="1638984" y="3846406"/>
            <a:ext cx="90217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/>
                <a:cs typeface="Times New Roman"/>
              </a:rPr>
              <a:t>COURSE</a:t>
            </a:r>
            <a:r>
              <a:rPr lang="en-US" sz="2400" b="1" spc="1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CODE</a:t>
            </a:r>
            <a:r>
              <a:rPr lang="en-US" sz="2400" b="1" spc="2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&amp;</a:t>
            </a:r>
            <a:r>
              <a:rPr lang="en-US" sz="2400" b="1" spc="3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NAME</a:t>
            </a:r>
            <a:r>
              <a:rPr lang="en-US" sz="2400" b="1" spc="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400" spc="30" dirty="0">
                <a:latin typeface="Times New Roman"/>
                <a:cs typeface="Times New Roman"/>
              </a:rPr>
              <a:t>DSA0202</a:t>
            </a:r>
            <a:r>
              <a:rPr lang="en-US" sz="2800" spc="30" dirty="0">
                <a:latin typeface="Times New Roman"/>
                <a:cs typeface="Times New Roman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with OpenCV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B5038-2AEA-5BA2-A40C-C6BC0A71FEFE}"/>
              </a:ext>
            </a:extLst>
          </p:cNvPr>
          <p:cNvSpPr txBox="1"/>
          <p:nvPr/>
        </p:nvSpPr>
        <p:spPr>
          <a:xfrm>
            <a:off x="7467600" y="5410200"/>
            <a:ext cx="4246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Mayuranathan 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B9F0E2-E5F7-051E-1095-0EC4A3E11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91983"/>
              </p:ext>
            </p:extLst>
          </p:nvPr>
        </p:nvGraphicFramePr>
        <p:xfrm>
          <a:off x="1254765" y="1839396"/>
          <a:ext cx="9982200" cy="1851658"/>
        </p:xfrm>
        <a:graphic>
          <a:graphicData uri="http://schemas.openxmlformats.org/drawingml/2006/table">
            <a:tbl>
              <a:tblPr/>
              <a:tblGrid>
                <a:gridCol w="9982200">
                  <a:extLst>
                    <a:ext uri="{9D8B030D-6E8A-4147-A177-3AD203B41FA5}">
                      <a16:colId xmlns:a16="http://schemas.microsoft.com/office/drawing/2014/main" val="2941847024"/>
                    </a:ext>
                  </a:extLst>
                </a:gridCol>
              </a:tblGrid>
              <a:tr h="18516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3200" b="1" dirty="0">
                          <a:effectLst/>
                          <a:latin typeface="Algerian" panose="04020705040A02060702" pitchFamily="82" charset="0"/>
                        </a:rPr>
                        <a:t>AI- Based Real -Time Sign Language Recognition and communication System Using open cv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899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598678"/>
            <a:ext cx="905326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BA531-C154-BC3D-F79F-75E2424A8821}"/>
              </a:ext>
            </a:extLst>
          </p:cNvPr>
          <p:cNvSpPr txBox="1"/>
          <p:nvPr/>
        </p:nvSpPr>
        <p:spPr>
          <a:xfrm>
            <a:off x="1676400" y="1714598"/>
            <a:ext cx="9053269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is an important communication method for people with hearing and speech impairments.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can be difficult between sign language users and people who do not understand sign language.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OpenCV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track hand gestures through a webcam.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hand landmarks are extracted and converted into a 63-feature vector.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Forest classifier identifies the corresponding sign/letter.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letters are converted into text and speech for communication.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in real time and provides an interactive communication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276" y="514794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8800" y="1828800"/>
            <a:ext cx="647700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ASL sign language datasets.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hands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OpenCV.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and normalize 21 hand landmarks.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63-feature vector for classification.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Random Forest classifier for sign recognition.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Accuracy, Precision, Recall and F1-Score.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real-time sign recognition using a webcam.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recognized signs into text and speech.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D6AB-EB7C-4A0A-0762-67A0017F7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072871-4410-E98C-143F-742D5970E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514794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5"/>
              </a:spcBef>
            </a:pPr>
            <a:r>
              <a:rPr lang="en-GB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59D530-1DFE-98C5-C181-8AF106AC4BE7}"/>
              </a:ext>
            </a:extLst>
          </p:cNvPr>
          <p:cNvSpPr txBox="1"/>
          <p:nvPr/>
        </p:nvSpPr>
        <p:spPr>
          <a:xfrm>
            <a:off x="1460934" y="2057400"/>
            <a:ext cx="9740466" cy="374955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communicating between sign language users and people who do not understand sign language.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time-consuming and requires a human interpreter.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provide real-time recognition of individual hand signs accurately.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signs need to be converted into meaningful text and speech for easier communication.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automated system is needed to detect hand signs, recognize letters, form words/sentences, and provide text-to-speech output.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71E7B47-BB52-8B04-B50D-E7DD437E96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A6B7FD5-1EEC-E9D2-8941-394E6365CB7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1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A1A1-DDB4-B601-1828-26438956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275AE7-58EB-7AE7-85AC-F8DEB495B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514794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5"/>
              </a:spcBef>
            </a:pPr>
            <a:r>
              <a:rPr lang="en-GB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6543623-528A-A847-6955-B06D469DAD8B}"/>
              </a:ext>
            </a:extLst>
          </p:cNvPr>
          <p:cNvSpPr txBox="1"/>
          <p:nvPr/>
        </p:nvSpPr>
        <p:spPr>
          <a:xfrm>
            <a:off x="1905000" y="2057400"/>
            <a:ext cx="8995183" cy="374955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hand signs in real time using a webcam and OpenCV.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extract 21 hand landmarks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landmarks into normalized 63-feature vectors and classify signs using a Random Forest model.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letters and form meaningful words/sentences through an interactive communication interface.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final recognized text into speech using Text-to-Speech (TTS) for easy communication.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2F5494E-4A8B-8B73-C23F-A878CD0069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1C00250-1006-BC40-A620-EF6C4FBBB2E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98" y="0"/>
            <a:ext cx="951183" cy="11584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3618" y="28704"/>
            <a:ext cx="1425588" cy="1129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4CFBA0-2148-D69F-1E0A-F545CB99D4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25"/>
          <a:stretch>
            <a:fillRect/>
          </a:stretch>
        </p:blipFill>
        <p:spPr>
          <a:xfrm>
            <a:off x="457199" y="1371600"/>
            <a:ext cx="1157706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1" y="263565"/>
            <a:ext cx="80772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330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 Dataset Collection &amp; Preprocessing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5600" y="2458"/>
            <a:ext cx="152006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9A6942-1EEB-80EA-B566-9FF0388FF5BF}"/>
              </a:ext>
            </a:extLst>
          </p:cNvPr>
          <p:cNvSpPr txBox="1"/>
          <p:nvPr/>
        </p:nvSpPr>
        <p:spPr>
          <a:xfrm>
            <a:off x="357353" y="1688056"/>
            <a:ext cx="8329448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clean and organized dataset for training the sign language recognition model.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ASL (American Sign Language) images for different letters.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images into separate folders based on their corresponding letters.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hand from each image using Media Pipe.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21 hand landmark coordinates.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landmark coordinates to reduce the effect of hand position and size.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extracted landmark data as feature values.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dataset and remove incorrect or incomplete samples.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processed data into a single dataset for machine learning.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clean dataset containing hand landmark features and their corresponding labels.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B2A4A-FD93-76BE-F8A9-CD9000D2F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640" y="1414819"/>
            <a:ext cx="3072007" cy="5397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9C0D-AB6B-8E14-47C0-40B2C526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3AE7BB-D634-0048-E155-10E8BE2C4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1" y="263565"/>
            <a:ext cx="80772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330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 Hand Detection &amp; Feature Extraction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4FCD3E4-50B3-3DFB-2EE2-37FCCA0762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4936250-A426-B6B7-F7EB-200865712B8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5BB29-4C63-A8D0-E341-4C9830249F2C}"/>
              </a:ext>
            </a:extLst>
          </p:cNvPr>
          <p:cNvSpPr txBox="1"/>
          <p:nvPr/>
        </p:nvSpPr>
        <p:spPr>
          <a:xfrm>
            <a:off x="990600" y="1836025"/>
            <a:ext cx="66294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hand and convert its shape into numerical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hand images/video using OpenCV.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Hands for real-time hand detection.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21 key landmarks on the hand.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landmark provides X, Y, and Z coordinates.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wrist-based normalization to make the features independent of hand position.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21 landmarks × 3 coordinates into a 63-feature vector.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the feature vector to the machine learning model.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normalized 63-feature representation of the detected hand.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2FF7B-0F79-5F35-426D-386F6C003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606462"/>
            <a:ext cx="2921956" cy="51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47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17BF-B615-92DC-7F01-F806B34C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E216ED-60BD-D963-B0A3-77BA7E6C4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263565"/>
            <a:ext cx="8686799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330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3- Machine Learning Model Development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7014C92-136C-E6D1-CEE8-E4DD150E0E2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9F16161-4330-4949-8BB6-523236D7631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61DEB-D669-884B-E27C-252E21BB5237}"/>
              </a:ext>
            </a:extLst>
          </p:cNvPr>
          <p:cNvSpPr txBox="1"/>
          <p:nvPr/>
        </p:nvSpPr>
        <p:spPr>
          <a:xfrm>
            <a:off x="685800" y="1752600"/>
            <a:ext cx="81534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 learning model to recognize different sign language letters.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extracted 63-feature vectors as input.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each feature vector its corresponding sign/letter label.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dataset into training and testing data.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Random Forest Classifier for sign classification.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the training dataset.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trained model using unseen test data.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using: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Accuracy ,Precision ,Recall ,F1-Score ,Confusion Matrix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trained model for real-time prediction.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trained Random Forest model capable of classifying sign language letters.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4EE64-0F86-CC7A-738B-4D60AF0DF5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173"/>
          <a:stretch>
            <a:fillRect/>
          </a:stretch>
        </p:blipFill>
        <p:spPr>
          <a:xfrm>
            <a:off x="8915400" y="1602181"/>
            <a:ext cx="2945605" cy="506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339E-08C7-AA96-D08B-979417D1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524781-28F3-F74F-9110-199D4C20C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1" y="263565"/>
            <a:ext cx="80772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330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4- Real-Time Sign Language Recognition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EC02D98-D3B9-AD1F-51C1-8964C8EA55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9E97727-1CC4-4F14-4828-0222ED4A5F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85AEC7-284C-E949-CFCB-F905588172CB}"/>
              </a:ext>
            </a:extLst>
          </p:cNvPr>
          <p:cNvSpPr txBox="1"/>
          <p:nvPr/>
        </p:nvSpPr>
        <p:spPr>
          <a:xfrm>
            <a:off x="685800" y="1905000"/>
            <a:ext cx="7726038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sign language continuously through a webcam.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webcam using OpenCV.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video frames.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features to the trained Random Forest model.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corresponding sign/letter in real time.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predicted letter on the screen.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prediction stabilization to avoid unwanted changes caused by individual frames.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situations where no hand is detected.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sign language recognition with predicted letters displayed on the screen.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DE6DF9-D98C-E6F2-9255-6500AA9F46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778"/>
          <a:stretch>
            <a:fillRect/>
          </a:stretch>
        </p:blipFill>
        <p:spPr>
          <a:xfrm>
            <a:off x="8440292" y="1676400"/>
            <a:ext cx="3206421" cy="518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94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523D-39E9-E4E1-B439-EBD86C46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ECB73A-6E71-CBCD-61F3-E27FA1F3F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1" y="263565"/>
            <a:ext cx="8534399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330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5 - Communication Interface &amp; Text-to-Speech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3590AF3-5A38-4361-E4FA-00B0B5F286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C6604F7-4DC5-0469-5663-C1CA98A18C0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6114CD-C0E3-896F-E4F3-703E1F760A78}"/>
              </a:ext>
            </a:extLst>
          </p:cNvPr>
          <p:cNvSpPr txBox="1"/>
          <p:nvPr/>
        </p:nvSpPr>
        <p:spPr>
          <a:xfrm>
            <a:off x="909143" y="1828800"/>
            <a:ext cx="63246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recognized signs into meaningful text and speech.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recognized letters in a communication interface.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predicted letters to form words.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controls such as: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Add Letter ,Space ,Delete ,Clear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letters to construct complete sentences.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final text into speech using Text-to-Speech (TTS).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interface for communication.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modules into a single system.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→ Letter → Word → Sentence → Speech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45F73-8FF2-85BD-889B-2ECCD8F228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111"/>
          <a:stretch>
            <a:fillRect/>
          </a:stretch>
        </p:blipFill>
        <p:spPr>
          <a:xfrm>
            <a:off x="8077199" y="1809324"/>
            <a:ext cx="3189375" cy="497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5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AD581E6-D853-21FE-C4D9-9AFA69EB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935" y="461899"/>
            <a:ext cx="9053268" cy="69659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7E510-AEC9-3439-82BC-2CEDF7CF2A63}"/>
              </a:ext>
            </a:extLst>
          </p:cNvPr>
          <p:cNvSpPr txBox="1"/>
          <p:nvPr/>
        </p:nvSpPr>
        <p:spPr>
          <a:xfrm>
            <a:off x="1752600" y="2099102"/>
            <a:ext cx="35052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background variations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hand positions and angles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Similar-looking gestures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occlusion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stability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quality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E51D3-48F7-854D-241A-570571C262DB}"/>
              </a:ext>
            </a:extLst>
          </p:cNvPr>
          <p:cNvSpPr txBox="1"/>
          <p:nvPr/>
        </p:nvSpPr>
        <p:spPr>
          <a:xfrm>
            <a:off x="6400800" y="2099102"/>
            <a:ext cx="434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vocabulary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static signs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dependency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sensitivity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ASL-specific training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classification errors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contextual/grammar understanding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21C1-4908-7990-5DFF-495C24D4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06A782-53E9-6CBF-7BBB-C7DB3123E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517804"/>
            <a:ext cx="79941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5"/>
              </a:spcBef>
            </a:pPr>
            <a:r>
              <a:rPr lang="en-GB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201515C-FA46-EBC6-93D9-3F8D150D054C}"/>
              </a:ext>
            </a:extLst>
          </p:cNvPr>
          <p:cNvSpPr txBox="1"/>
          <p:nvPr/>
        </p:nvSpPr>
        <p:spPr>
          <a:xfrm>
            <a:off x="1533768" y="2209800"/>
            <a:ext cx="9740466" cy="328788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recognize dynamic ASL signs, including letters such as J and Z.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model to recognize complete words and commonly used sign language phrases.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recognition accuracy under different lighting conditions, backgrounds, and hand orientations.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voice-to-text and text-to-sign capabilities for two-way communication.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or web-based application for easier and more portable real-time communication.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38F97CC-9299-E1D0-08C5-7CEB8A586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3281D2-2C3A-72E6-70F2-34C7F430752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8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533400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553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00" y="1782227"/>
            <a:ext cx="9982200" cy="457432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demonstrates real-time ASL sign language recognition using computer vision and machine learning.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OpenCV enable efficient hand detection and extraction of 21 hand landmarks.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classifier recognizes the trained ASL letters using normalized 63-feature landmark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interface allows recognized letters to be combined into words and sentences and converted into speech.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provides a practical and accessible communication solution by integrating AI, computer vision, machine learning, and Text-to-Speech technology.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918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673889"/>
            <a:ext cx="11049000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Khatavkar, V.,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Kalebere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Ghute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Sign Language Recognition System Using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presents a real-time sign language recognition system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landmarks and a Random Forest classifier, with emphasis on lightweight and fast recognition. [IJACTE]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 Sudarsana, H., Sameera, M., Syed Irfan, M., &amp; Thurai Pandian, M.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Sign Language to Text Conversion Using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Landmarks and Random Forest Classifier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21 normalized hand landmarks extracted through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for real-time recognition of static sign language gestures. 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EurekaMag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Pranav, et al.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Sign Language Recognition for Alphabets Using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LSTM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explores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hand landmark extraction and machine learning for recognizing static and dynamic ASL alphabet gestures. [ScienceDirect]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Varanasi, A. B., Sinha, M., &amp; Dasgupta, T.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Sign Language Recognition via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Landmarks: A Case Study on Indian Sign Language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investigates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hand, face, and pose landmarks for efficient isolated sign language recognition and mobile deployment. [IEEE/CVF CVPR Workshops] 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438400"/>
            <a:ext cx="9448800" cy="1783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0" dirty="0">
                <a:latin typeface="Algerian" panose="04020705040A02060702" pitchFamily="82" charset="0"/>
                <a:cs typeface="Times New Roman" panose="02020603050405020304" pitchFamily="18" charset="0"/>
              </a:rPr>
              <a:t>Thank</a:t>
            </a:r>
            <a:r>
              <a:rPr sz="11500" spc="-100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sz="11500" spc="-50" dirty="0">
                <a:latin typeface="Algerian" panose="04020705040A02060702" pitchFamily="82" charset="0"/>
                <a:cs typeface="Times New Roman" panose="02020603050405020304" pitchFamily="18" charset="0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1328</Words>
  <Application>Microsoft Office PowerPoint</Application>
  <PresentationFormat>Widescreen</PresentationFormat>
  <Paragraphs>141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Algerian</vt:lpstr>
      <vt:lpstr>Calibri</vt:lpstr>
      <vt:lpstr>Times New Roman</vt:lpstr>
      <vt:lpstr>Wingdings</vt:lpstr>
      <vt:lpstr>Office Theme</vt:lpstr>
      <vt:lpstr>PowerPoint Presentation</vt:lpstr>
      <vt:lpstr>Introduction</vt:lpstr>
      <vt:lpstr>Objectives</vt:lpstr>
      <vt:lpstr>Problem Statement</vt:lpstr>
      <vt:lpstr>Proposed Solution</vt:lpstr>
      <vt:lpstr>System Architecture</vt:lpstr>
      <vt:lpstr>Module 1- Dataset Collection &amp; Preprocessing</vt:lpstr>
      <vt:lpstr>Module 2- Hand Detection &amp; Feature Extraction</vt:lpstr>
      <vt:lpstr>Module 3- Machine Learning Model Development</vt:lpstr>
      <vt:lpstr>Module 4- Real-Time Sign Language Recognition</vt:lpstr>
      <vt:lpstr>Module 5 - Communication Interface &amp; Text-to-Speech</vt:lpstr>
      <vt:lpstr>Challenges &amp; Limitations</vt:lpstr>
      <vt:lpstr>Future Enhancements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DELLBNR1824@outlook.com</cp:lastModifiedBy>
  <cp:revision>60</cp:revision>
  <dcterms:created xsi:type="dcterms:W3CDTF">2025-02-25T03:46:00Z</dcterms:created>
  <dcterms:modified xsi:type="dcterms:W3CDTF">2026-09-01T07:49:31Z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2025-02-24T11:00:00Z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2025-02-25T11:00:00Z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>D155478E706B4F46AA8A05F52806202A_12</vt:lpwstr>
  </property>
  <property fmtid="{D5CDD505-2E9C-101B-9397-08002B2CF9AE}" pid="7" name="KSOProductBuildVer">
    <vt:lpwstr>1033-12.2.0.20323</vt:lpwstr>
  </property>
</Properties>
</file>